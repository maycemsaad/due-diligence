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Bitcoin Analysis Report</a:t>
            </a:r>
          </a:p>
        </p:txBody>
      </p:sp>
      <p:sp>
        <p:nvSpPr>
          <p:cNvPr id="3" name="Subtitle 2"/>
          <p:cNvSpPr>
            <a:spLocks noGrp="1"/>
          </p:cNvSpPr>
          <p:nvPr>
            <p:ph type="subTitle" idx="1"/>
          </p:nvPr>
        </p:nvSpPr>
        <p:spPr/>
        <p:txBody>
          <a:bodyPr/>
          <a:lstStyle/>
          <a:p>
            <a:r>
              <a:t>Generated on 2025-05-20 05:17</a:t>
            </a:r>
          </a:p>
          <a:p>
            <a:r>
              <a:t>Crypto Intelligence Platform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Metrics Overview</a:t>
            </a:r>
          </a:p>
        </p:txBody>
      </p:sp>
      <p:sp>
        <p:nvSpPr>
          <p:cNvPr id="3" name="Content Placeholder 2"/>
          <p:cNvSpPr>
            <a:spLocks noGrp="1"/>
          </p:cNvSpPr>
          <p:nvPr>
            <p:ph idx="1"/>
          </p:nvPr>
        </p:nvSpPr>
        <p:spPr/>
        <p:txBody>
          <a:bodyPr/>
          <a:lstStyle/>
          <a:p/>
        </p:txBody>
      </p:sp>
      <p:graphicFrame>
        <p:nvGraphicFramePr>
          <p:cNvPr id="4" name="Table 3"/>
          <p:cNvGraphicFramePr>
            <a:graphicFrameLocks noGrp="1"/>
          </p:cNvGraphicFramePr>
          <p:nvPr/>
        </p:nvGraphicFramePr>
        <p:xfrm>
          <a:off x="914400" y="1371600"/>
          <a:ext cx="5486400" cy="3657600"/>
        </p:xfrm>
        <a:graphic>
          <a:graphicData uri="http://schemas.openxmlformats.org/drawingml/2006/table">
            <a:tbl>
              <a:tblPr firstRow="1" bandRow="1">
                <a:tableStyleId>{5C22544A-7EE6-4342-B048-85BDC9FD1C3A}</a:tableStyleId>
              </a:tblPr>
              <a:tblGrid>
                <a:gridCol w="2743200"/>
                <a:gridCol w="2743200"/>
              </a:tblGrid>
              <a:tr h="457200">
                <a:tc>
                  <a:txBody>
                    <a:bodyPr/>
                    <a:lstStyle/>
                    <a:p>
                      <a:r>
                        <a:t>Metric</a:t>
                      </a:r>
                    </a:p>
                  </a:txBody>
                  <a:tcPr/>
                </a:tc>
                <a:tc>
                  <a:txBody>
                    <a:bodyPr/>
                    <a:lstStyle/>
                    <a:p>
                      <a:r>
                        <a:t>Value</a:t>
                      </a:r>
                    </a:p>
                  </a:txBody>
                  <a:tcPr/>
                </a:tc>
              </a:tr>
              <a:tr h="457200">
                <a:tc>
                  <a:txBody>
                    <a:bodyPr/>
                    <a:lstStyle/>
                    <a:p>
                      <a:r>
                        <a:t>Current Price</a:t>
                      </a:r>
                    </a:p>
                  </a:txBody>
                  <a:tcPr/>
                </a:tc>
                <a:tc>
                  <a:txBody>
                    <a:bodyPr/>
                    <a:lstStyle/>
                    <a:p>
                      <a:r>
                        <a:t>$91,611.00</a:t>
                      </a:r>
                    </a:p>
                  </a:txBody>
                  <a:tcPr/>
                </a:tc>
              </a:tr>
              <a:tr h="457200">
                <a:tc>
                  <a:txBody>
                    <a:bodyPr/>
                    <a:lstStyle/>
                    <a:p>
                      <a:r>
                        <a:t>Volatility</a:t>
                      </a:r>
                    </a:p>
                  </a:txBody>
                  <a:tcPr/>
                </a:tc>
                <a:tc>
                  <a:txBody>
                    <a:bodyPr/>
                    <a:lstStyle/>
                    <a:p>
                      <a:r>
                        <a:t>N/A</a:t>
                      </a:r>
                    </a:p>
                  </a:txBody>
                  <a:tcPr/>
                </a:tc>
              </a:tr>
              <a:tr h="457200">
                <a:tc>
                  <a:txBody>
                    <a:bodyPr/>
                    <a:lstStyle/>
                    <a:p>
                      <a:r>
                        <a:t>Momentum</a:t>
                      </a:r>
                    </a:p>
                  </a:txBody>
                  <a:tcPr/>
                </a:tc>
                <a:tc>
                  <a:txBody>
                    <a:bodyPr/>
                    <a:lstStyle/>
                    <a:p>
                      <a:r>
                        <a:t>N/A</a:t>
                      </a:r>
                    </a:p>
                  </a:txBody>
                  <a:tcPr/>
                </a:tc>
              </a:tr>
              <a:tr h="457200">
                <a:tc>
                  <a:txBody>
                    <a:bodyPr/>
                    <a:lstStyle/>
                    <a:p>
                      <a:r>
                        <a:t>Sharpe Ratio</a:t>
                      </a:r>
                    </a:p>
                  </a:txBody>
                  <a:tcPr/>
                </a:tc>
                <a:tc>
                  <a:txBody>
                    <a:bodyPr/>
                    <a:lstStyle/>
                    <a:p>
                      <a:r>
                        <a:t>N/A</a:t>
                      </a:r>
                    </a:p>
                  </a:txBody>
                  <a:tcPr/>
                </a:tc>
              </a:tr>
              <a:tr h="457200">
                <a:tc>
                  <a:txBody>
                    <a:bodyPr/>
                    <a:lstStyle/>
                    <a:p>
                      <a:r>
                        <a:t>Max Drawdown</a:t>
                      </a:r>
                    </a:p>
                  </a:txBody>
                  <a:tcPr/>
                </a:tc>
                <a:tc>
                  <a:txBody>
                    <a:bodyPr/>
                    <a:lstStyle/>
                    <a:p>
                      <a:r>
                        <a:t>N/A</a:t>
                      </a:r>
                    </a:p>
                  </a:txBody>
                  <a:tcPr/>
                </a:tc>
              </a:tr>
              <a:tr h="457200">
                <a:tc>
                  <a:txBody>
                    <a:bodyPr/>
                    <a:lstStyle/>
                    <a:p>
                      <a:r>
                        <a:t>BTC Correlation</a:t>
                      </a:r>
                    </a:p>
                  </a:txBody>
                  <a:tcPr/>
                </a:tc>
                <a:tc>
                  <a:txBody>
                    <a:bodyPr/>
                    <a:lstStyle/>
                    <a:p>
                      <a:r>
                        <a:t>N/A</a:t>
                      </a:r>
                    </a:p>
                  </a:txBody>
                  <a:tcPr/>
                </a:tc>
              </a:tr>
              <a:tr h="457200">
                <a:tc>
                  <a:txBody>
                    <a:bodyPr/>
                    <a:lstStyle/>
                    <a:p>
                      <a:r>
                        <a:t>Market Regime</a:t>
                      </a:r>
                    </a:p>
                  </a:txBody>
                  <a:tcPr/>
                </a:tc>
                <a:tc>
                  <a:txBody>
                    <a:bodyPr/>
                    <a:lstStyle/>
                    <a:p>
                      <a:r>
                        <a:t>N/A</a:t>
                      </a:r>
                    </a:p>
                  </a:txBody>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Price History</a:t>
            </a:r>
          </a:p>
        </p:txBody>
      </p:sp>
      <p:sp>
        <p:nvSpPr>
          <p:cNvPr id="3" name="Content Placeholder 2"/>
          <p:cNvSpPr>
            <a:spLocks noGrp="1"/>
          </p:cNvSpPr>
          <p:nvPr>
            <p:ph idx="1"/>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none">
            <a:spAutoFit/>
          </a:bodyPr>
          <a:lstStyle/>
          <a:p/>
          <a:p>
            <a:pPr>
              <a:defRPr b="1" sz="1600"/>
            </a:pPr>
            <a:r>
              <a:t>Price Forecast:</a:t>
            </a:r>
          </a:p>
          <a:p>
            <a:pPr>
              <a:defRPr sz="1400"/>
            </a:pPr>
            <a:r>
              <a:t>Current Price: $91,611.00</a:t>
            </a:r>
          </a:p>
          <a:p>
            <a:pPr>
              <a:defRPr sz="1400"/>
            </a:pPr>
            <a:r>
              <a:t>Predicted Price: $66,383.85 (Down 27.54%)</a:t>
            </a:r>
          </a:p>
          <a:p>
            <a:pPr>
              <a:defRPr sz="1400"/>
            </a:pPr>
            <a:r>
              <a:t>Confidence Interval: $56,056.72 - $77,691.41</a:t>
            </a:r>
          </a:p>
          <a:p>
            <a:br/>
            <a:pPr>
              <a:defRPr b="1" sz="1600"/>
            </a:pPr>
            <a:r>
              <a:t>Trading Recommendation:</a:t>
            </a:r>
          </a:p>
          <a:p>
            <a:pPr>
              <a:defRPr sz="1800">
                <a:solidFill>
                  <a:srgbClr val="FF0000"/>
                </a:solidFill>
              </a:defRPr>
            </a:pPr>
            <a:r>
              <a:t>SELL SIGNAL - Predicted price decrease</a:t>
            </a:r>
          </a:p>
          <a:p>
            <a:r>
              <a:t>• Consider reducing exposure</a:t>
            </a:r>
          </a:p>
          <a:p>
            <a:r>
              <a:t>• Exit point above $77,691.41 may provide better prices</a:t>
            </a:r>
          </a:p>
          <a:p>
            <a:r>
              <a:t>• Set stop-loss at $81,575.98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Disclaimer</a:t>
            </a: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3657600"/>
          </a:xfrm>
          <a:prstGeom prst="rect">
            <a:avLst/>
          </a:prstGeom>
          <a:noFill/>
        </p:spPr>
        <p:txBody>
          <a:bodyPr wrap="none">
            <a:spAutoFit/>
          </a:bodyPr>
          <a:lstStyle/>
          <a:p/>
          <a:p>
            <a:pPr>
              <a:defRPr b="1" sz="1600"/>
            </a:pPr>
            <a:r>
              <a:t>Important Notice:</a:t>
            </a:r>
          </a:p>
          <a:p>
            <a:pPr>
              <a:defRPr sz="1200"/>
            </a:pPr>
            <a:r>
              <a:t>This report is for informational purposes only and should not be considered as financial advice. Cryptocurrency markets are highly volatile and investing carries risks. Always conduct your own research before making any investment decisions.</a:t>
            </a:r>
          </a:p>
          <a:p>
            <a:br/>
            <a:pPr>
              <a:defRPr b="1" sz="1400"/>
            </a:pPr>
            <a:r>
              <a:t>Data Sources:</a:t>
            </a:r>
          </a:p>
          <a:p>
            <a:pPr>
              <a:defRPr sz="1200"/>
            </a:pPr>
            <a:r>
              <a:t>• Yahoo Finance</a:t>
            </a:r>
            <a:br/>
            <a:r>
              <a:t>• Binance API</a:t>
            </a:r>
            <a:br/>
            <a:r>
              <a:t>• Reddit (for sentiment analysis)</a:t>
            </a:r>
            <a:br/>
            <a:r>
              <a:t>• Various technical indicators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